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2.png"/><Relationship Id="rId9" Type="http://schemas.openxmlformats.org/officeDocument/2006/relationships/image" Target="../media/image-5-2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image" Target="../media/image-10-1.png"/><Relationship Id="rId8" Type="http://schemas.openxmlformats.org/officeDocument/2006/relationships/image" Target="../media/image-10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2.png"/><Relationship Id="rId5" Type="http://schemas.openxmlformats.org/officeDocument/2006/relationships/image" Target="../media/image-15-5.png"/><Relationship Id="rId6" Type="http://schemas.openxmlformats.org/officeDocument/2006/relationships/image" Target="../media/image-15-2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2.png"/><Relationship Id="rId4" Type="http://schemas.openxmlformats.org/officeDocument/2006/relationships/image" Target="../media/image-3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1.png"/><Relationship Id="rId3" Type="http://schemas.openxmlformats.org/officeDocument/2006/relationships/image" Target="../media/image-41-1.png"/><Relationship Id="rId4" Type="http://schemas.openxmlformats.org/officeDocument/2006/relationships/image" Target="../media/image-4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640080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1060704"/>
            <a:ext cx="2523744" cy="310896"/>
          </a:xfrm>
          <a:prstGeom prst="roundRect">
            <a:avLst>
              <a:gd name="adj" fmla="val 17647"/>
            </a:avLst>
          </a:prstGeom>
          <a:solidFill>
            <a:srgbClr val="1E293B">
              <a:alpha val="92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1481328"/>
            <a:ext cx="2304288" cy="310896"/>
          </a:xfrm>
          <a:prstGeom prst="roundRect">
            <a:avLst>
              <a:gd name="adj" fmla="val 17647"/>
            </a:avLst>
          </a:prstGeom>
          <a:solidFill>
            <a:srgbClr val="0D9488">
              <a:alpha val="84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98864" y="1901952"/>
            <a:ext cx="2084832" cy="310896"/>
          </a:xfrm>
          <a:prstGeom prst="roundRect">
            <a:avLst>
              <a:gd name="adj" fmla="val 17647"/>
            </a:avLst>
          </a:prstGeom>
          <a:solidFill>
            <a:srgbClr val="1E293B">
              <a:alpha val="76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08592" y="2322576"/>
            <a:ext cx="1865376" cy="310896"/>
          </a:xfrm>
          <a:prstGeom prst="roundRect">
            <a:avLst>
              <a:gd name="adj" fmla="val 17647"/>
            </a:avLst>
          </a:prstGeom>
          <a:solidFill>
            <a:srgbClr val="0D9488">
              <a:alpha val="68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371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assets/databa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459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三個月試用期技術考核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3154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sstate-cache 編譯加速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與進階工具實戰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841248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從快取復用機制到 BSP 除錯與簽章分析的完整實作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41248" y="5897880"/>
            <a:ext cx="10515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6035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WangHanChi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BSP Engineer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521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Novatek Cortex-A53 · Yocto scarthgap 5.0 LTS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本次簡報涵蓋範圍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4708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F172A"/>
          </a:solidFill>
          <a:ln/>
        </p:spPr>
      </p:sp>
      <p:pic>
        <p:nvPicPr>
          <p:cNvPr id="6" name="Image 0" descr="assets/databa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9339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96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 1 — sstate-cache 機制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63040" y="21488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快取結構、簽章運算、復用與 miss 的判定邏輯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607040" y="1819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62432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277977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F172A"/>
          </a:solidFill>
          <a:ln/>
        </p:spPr>
      </p:sp>
      <p:pic>
        <p:nvPicPr>
          <p:cNvPr id="12" name="Image 1" descr="assets/bol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92608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75234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 2 — 共享快取與加速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463040" y="30815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DL_DIR / SSTATE_DIR / SSTATE_MIRRORS 與 CI 整合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0607040" y="2752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548640" y="355701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3232" y="3712464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F172A"/>
          </a:solidFill>
          <a:ln/>
        </p:spPr>
      </p:sp>
      <p:pic>
        <p:nvPicPr>
          <p:cNvPr id="18" name="Image 2" descr="assets/tool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85876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6850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 3 — 進階工具實戰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463040" y="401421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簽章分析、相依圖、pkgdata、layer 驗證、recipe 產生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0607040" y="36850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548640" y="448970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13232" y="4645152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F172A"/>
          </a:solidFill>
          <a:ln/>
        </p:spPr>
      </p:sp>
      <p:pic>
        <p:nvPicPr>
          <p:cNvPr id="24" name="Image 3" descr="assets/search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79145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617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 4 — 編譯失敗解讀與除錯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1463040" y="49469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判讀、taskhash 變動、build timeline 分析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0607040" y="4617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Shape 22"/>
          <p:cNvSpPr/>
          <p:nvPr/>
        </p:nvSpPr>
        <p:spPr>
          <a:xfrm>
            <a:off x="548640" y="54223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13232" y="557784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F172A"/>
          </a:solidFill>
          <a:ln/>
        </p:spPr>
      </p:sp>
      <p:pic>
        <p:nvPicPr>
          <p:cNvPr id="30" name="Image 4" descr="assets/flag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724144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63040" y="55504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 5 — 多機型支援與收斂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1463040" y="58795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差異、override 治理、試用期成果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0607040" y="5550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000" dirty="0"/>
          </a:p>
        </p:txBody>
      </p:sp>
      <p:sp>
        <p:nvSpPr>
          <p:cNvPr id="34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18288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assets/databa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5915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22494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sstate-cache 是什麼？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41248" y="4800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增量編譯的核心 — 理解它，才能談加速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為什麼從零編譯這麼痛？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5" name="Image 0" descr="assets/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65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從零 (from scratch) 編譯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一次完整 build 需編譯數千個 recipe，數小時起跳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toolchain、glibc、gcc-cross 等底層元件最耗時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改一行 device tree 也可能觸發大範圍重編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每次都重來，回饋週期長、機器資源浪費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 / 多機型開發時重複勞動成倍放大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assets/recy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659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6600" y="1965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sstate 的解法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565392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State Cache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583680" y="27889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task 的「輸出產物」被打包封存成快取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下次只要輸入沒變，直接解包還原，不重新跑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快取以 hash 標識，可跨機器、跨開發者共享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搭配 mirror，新成員 / CI 可秒級取得既有成果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真正做到「只編譯改動到的部分」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sstate-cache 機制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setscene：先問快取，再決定要不要編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BitBake 執行每個 task 前，會先跑對應的 _setscene 變體，嘗試從 sstate 還原產物。成功就跳過實際 task。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4688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</p:sp>
      <p:pic>
        <p:nvPicPr>
          <p:cNvPr id="7" name="Image 0" descr="assets/h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58775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3957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 task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50" dirty="0"/>
          </a:p>
        </p:txBody>
      </p:sp>
      <p:pic>
        <p:nvPicPr>
          <p:cNvPr id="9" name="Image 1" descr="asset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78892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91840" y="228600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56432" y="24688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</p:sp>
      <p:pic>
        <p:nvPicPr>
          <p:cNvPr id="12" name="Image 2" descr="assets/search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587752"/>
            <a:ext cx="265176" cy="265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69080" y="23957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sstate 有無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 .siginfo</a:t>
            </a:r>
            <a:endParaRPr lang="en-US" sz="1250" dirty="0"/>
          </a:p>
        </p:txBody>
      </p:sp>
      <p:pic>
        <p:nvPicPr>
          <p:cNvPr id="14" name="Image 3" descr="asset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2788920"/>
            <a:ext cx="292608" cy="29260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035040" y="228600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199632" y="24688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BBF24"/>
          </a:solidFill>
          <a:ln/>
        </p:spPr>
      </p:sp>
      <p:pic>
        <p:nvPicPr>
          <p:cNvPr id="17" name="Image 4" descr="assets/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2587752"/>
            <a:ext cx="265176" cy="2651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12280" y="23957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命中？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9006840" y="1783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CFDF5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0" name="Image 5" descr="assets/hi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2011680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738360" y="2029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命中 (HIT)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9253728" y="2514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解包還原產物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task 標記為 covered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不執行實際編譯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9006840" y="36576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EF2F2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4" name="Image 6" descr="assets/mis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3886200"/>
            <a:ext cx="384048" cy="38404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738360" y="3904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未命中 (MISS)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9253728" y="43891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正常執行該 task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重新編譯產生產物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同時封存進 sstate</a:t>
            </a:r>
            <a:endParaRPr lang="en-US" sz="1150" dirty="0"/>
          </a:p>
        </p:txBody>
      </p:sp>
      <p:pic>
        <p:nvPicPr>
          <p:cNvPr id="27" name="Image 7" descr="assets/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1080" y="2468880"/>
            <a:ext cx="274320" cy="274320"/>
          </a:xfrm>
          <a:prstGeom prst="rect">
            <a:avLst/>
          </a:prstGeom>
        </p:spPr>
      </p:pic>
      <p:pic>
        <p:nvPicPr>
          <p:cNvPr id="28" name="Image 8" descr="assets/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1080" y="4343400"/>
            <a:ext cx="274320" cy="27432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548640" y="4160520"/>
            <a:ext cx="8183880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9" descr="assets/bul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4389120"/>
            <a:ext cx="365760" cy="36576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280160" y="431596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BitBake 在真正排程前，會先用 setscene 把「可從快取還原」的 task 整批標記掉，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因此 build plan 會大幅縮小 —— 你看到的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X of Y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就是這樣算出來的。</a:t>
            </a:r>
            <a:endParaRPr lang="en-US" sz="1250" dirty="0"/>
          </a:p>
        </p:txBody>
      </p:sp>
      <p:sp>
        <p:nvSpPr>
          <p:cNvPr id="32" name="Text 2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sstate-cache 機制</a:t>
            </a:r>
            <a:endParaRPr lang="en-US" sz="900" dirty="0"/>
          </a:p>
        </p:txBody>
      </p:sp>
      <p:sp>
        <p:nvSpPr>
          <p:cNvPr id="33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22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sstate-cache 資料夾長什麼樣子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預設位於 build/sstate-cache/。檔案以 hash 前兩碼做兩層分桶 (sharding)，避免單一目錄塞進數萬檔案。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035040" cy="3703320"/>
          </a:xfrm>
          <a:prstGeom prst="roundRect">
            <a:avLst>
              <a:gd name="adj" fmla="val 148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58568"/>
            <a:ext cx="5705856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sstate-cache/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universal/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3f/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...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e3/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sstate:zlib:cortexa53...:1.3.1:r0:cortexa53:3: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e3a1b9..._package.tgz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e3/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..._package.tgz.siginfo   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7c/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sstate:gcc-cross...:do_compile:...tgz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12280" y="214884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95160" y="24048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/>
        </p:spPr>
      </p:sp>
      <p:pic>
        <p:nvPicPr>
          <p:cNvPr id="9" name="Image 0" descr="asset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464" y="255117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26680" y="2313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.tgz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26680" y="2697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封存的 task 產物本體，解包即還原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12280" y="338328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95160" y="363931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/>
        </p:spPr>
      </p:sp>
      <p:pic>
        <p:nvPicPr>
          <p:cNvPr id="14" name="Image 1" descr="assets/fingerprin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464" y="378561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26680" y="3547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.siginfo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72668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該產物對應的簽章資訊，比對命中用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12280" y="46177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95160" y="487375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/>
        </p:spPr>
      </p:sp>
      <p:pic>
        <p:nvPicPr>
          <p:cNvPr id="19" name="Image 2" descr="assets/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502005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26680" y="4782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前兩碼分桶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726680" y="5166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 e3/、7c/，純粹為了檔案系統效率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sstate-cache 機制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拆解一個 sstate 檔名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sstate:</a:t>
            </a:r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zlib</a:t>
            </a:r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cortexa53-poky-linux</a:t>
            </a:r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1.3.1</a:t>
            </a:r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:r0:</a:t>
            </a:r>
            <a:pPr indent="0" marL="0">
              <a:buNone/>
            </a:pPr>
            <a:r>
              <a:rPr lang="en-US" sz="145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cortexa53</a:t>
            </a:r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:3:</a:t>
            </a:r>
            <a:pPr indent="0" marL="0">
              <a:buNone/>
            </a:pPr>
            <a:r>
              <a:rPr lang="en-US" sz="14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e3a1b9c2…</a:t>
            </a:r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_package.tgz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898648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9748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zlib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06240" y="26974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名稱（package name）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74136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575304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3741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cortexa53-poky-linux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06240" y="337413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PACKAGE_ARCH / target sys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337413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決定產物適用的架構與 ABI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251960"/>
            <a:ext cx="201168" cy="20116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05079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1.3.1 : r0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06240" y="405079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: PR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405079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版本與 revision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2744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928616"/>
            <a:ext cx="201168" cy="20116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72744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cortexa53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206240" y="47274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/ arch tag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47274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封存當下的目標機型分類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404104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5605272"/>
            <a:ext cx="201168" cy="20116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540410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e3a1b9c2…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206240" y="54041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signature (hash)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540410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最關鍵 —— 任何輸入改變這串就變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sstate-cache 機制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那串 hash 是怎麼算出來的？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task 的 signature 由「它的所有輸入」雜湊而成。輸入分兩類：自身的變數/程式碼，加上所有相依 task 的 signature（遞迴）。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76072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3134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/>
        </p:spPr>
      </p:sp>
      <p:pic>
        <p:nvPicPr>
          <p:cNvPr id="7" name="Image 0" descr="assets/file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43230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22585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的 shell / python 函式內容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98448" y="2578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do_compile() 本身的程式碼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035808"/>
            <a:ext cx="576072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32004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/>
        </p:spPr>
      </p:sp>
      <p:pic>
        <p:nvPicPr>
          <p:cNvPr id="12" name="Image 1" descr="asset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31927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98448" y="31455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直接引用的變數值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98448" y="34655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CFLAGS、EXTRA_OEMAKE、SRC_URI…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922776"/>
            <a:ext cx="576072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3232" y="40873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/>
        </p:spPr>
      </p:sp>
      <p:pic>
        <p:nvPicPr>
          <p:cNvPr id="17" name="Image 2" descr="assets/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20624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98448" y="40325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相依 task 的 signature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98448" y="43525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上游每個 dependency 的 hash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809744"/>
            <a:ext cx="576072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3232" y="497433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/>
        </p:spPr>
      </p:sp>
      <p:pic>
        <p:nvPicPr>
          <p:cNvPr id="22" name="Image 3" descr="asset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509320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98448" y="49194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vardeps / vardepvals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298448" y="52395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明確宣告或排除的相依變數</a:t>
            </a:r>
            <a:endParaRPr lang="en-US" sz="1050" dirty="0"/>
          </a:p>
        </p:txBody>
      </p:sp>
      <p:pic>
        <p:nvPicPr>
          <p:cNvPr id="25" name="Image 4" descr="asset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566160"/>
            <a:ext cx="457200" cy="4572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086600" y="2331720"/>
            <a:ext cx="4526280" cy="2377440"/>
          </a:xfrm>
          <a:prstGeom prst="roundRect">
            <a:avLst>
              <a:gd name="adj" fmla="val 38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5" descr="assets/fingerprin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2606040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09560" y="26334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signature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7379208" y="3108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SHA-256（取前數十位）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7360920" y="347472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0B1220"/>
          </a:solidFill>
          <a:ln/>
        </p:spPr>
      </p:sp>
      <p:sp>
        <p:nvSpPr>
          <p:cNvPr id="31" name="Text 23"/>
          <p:cNvSpPr/>
          <p:nvPr/>
        </p:nvSpPr>
        <p:spPr>
          <a:xfrm>
            <a:off x="749808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e3a1b9c2f47d…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379208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任一輸入改變，hash 改變，cache 失效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7086600" y="4892040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7269480" y="4983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遞迴特性：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底層元件（如 gcc-cross）的 hash 一變，所有依賴它的上層 task hash 全部跟著變 —— 這就是「改一個東西卻重編一片」的根源。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sstate-cache 機制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什麼時候可以復用 cache？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只要 task 的 signature 與 sstate 內既存的某個 .siginfo 完全一致，即視為命中。實務上這代表「所有輸入都沒變」。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assets/h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77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9456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只改了不相干的 recipe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0" y="219456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你動 app-A，app-B 與其相依鏈 hash 不變，整串照樣 HIT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90088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0" name="Image 1" descr="assets/h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7296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99008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切換回先前編過的設定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029200" y="299008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改壞了再改回來，hash 回到舊值，直接命中舊快取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785616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4" name="Image 2" descr="assets/h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6849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785616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換一台機器但有共享 mirror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029200" y="3785616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新環境 hash 算出來一樣，從 SSTATE_MIRRORS 拉現成產物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4581144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8" name="Image 3" descr="assets/h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76402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58114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只重跑 do_rootfs / image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029200" y="4581144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底層套件 hash 不變，只有 image 組裝層重新執行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5376672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2" name="Image 4" descr="assets/h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9552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537667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與本機設定一致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029200" y="5376672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本機編好的 sstate 推上去，CI 直接復用，反之亦然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sstate-cache 機制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什麼時候會 miss（被迫重編）？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任何進入 signature 計算的輸入改變，都會讓 hash 改變而 miss。以下是最常見的觸發來源 —— 有些很隱蔽。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assets/mi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505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23042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 recipe 內容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07008" y="26334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SRC_URI、版本、patch、do_compile 邏輯任一變動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2194560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0" name="Image 1" descr="assets/mi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45059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39128" y="23042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改編譯旗標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739128" y="26334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CFLAGS / TUNE_FLAGS / DISTRO_FEATURES 等全域變數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172968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4" name="Image 2" descr="assets/mi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2900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32826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相依被改動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07008" y="3611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上游任一 dependency 的 hash 變，連帶讓你 miss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80760" y="3172968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8" name="Image 3" descr="assets/mi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42900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39128" y="32826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 machine / distro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739128" y="3611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PACKAGE_ARCH 或 tune 改變，產物分類就不同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151376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2" name="Image 4" descr="assets/mi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40740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07008" y="42611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 toolchain / gcc 版本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207008" y="45902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底層元件變動，幾乎全樹 miss（代價最大）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080760" y="4151376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6" name="Image 5" descr="assets/mi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44074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39128" y="42611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環境變數滲入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739128" y="45902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未被 BB_HASHBASE_WHITELIST 過濾的變數混進 hash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48640" y="5129784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30" name="Image 6" descr="assets/mis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385816"/>
            <a:ext cx="329184" cy="32918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07008" y="5239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時間戳 / 路徑寫死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1207008" y="556869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把絕對路徑或 date 寫進輸出，導致不穩定 hash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080760" y="5129784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34" name="Image 7" descr="assets/mis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5385816"/>
            <a:ext cx="329184" cy="32918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739128" y="5239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sstate 被清掉 / 過期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6739128" y="556869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sstate-cache 或 mirror 沒有對應產物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sstate-cache 機制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一句話記住快取命中邏輯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74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「輸入決定 hash，hash 決定命中。」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3957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sstate 不在乎你「改了什麼意圖」，只在乎「進入簽章的輸入有沒有變」。要復用，就要讓輸入穩定。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5166360" cy="310896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assets/h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5661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3566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DE8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想要 HIT，就維持輸入穩定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143000" y="41605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用共享 SSTATE_DIR / MIRRORS 對齊全隊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避免在 recipe 寫死路徑、時間戳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鎖定 toolchain / distro 版本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bitbake-diffsigs 找出非預期變動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善用 vardepsexclude 排除無關變數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3291840"/>
            <a:ext cx="5166360" cy="310896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9050">
            <a:solidFill>
              <a:srgbClr val="991B1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assets/mi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566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76872" y="3566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71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會 MISS，多半是輸入悄悄變了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492240" y="41605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底層元件改版 → 連鎖重編一大片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全域旗標（CFLAGS / TUNE）被動到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環境變數滲漏進簽章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/ distro 切換改了 PACKAGE_ARCH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本機與 CI 設定不一致，hash 對不上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18288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assets/bol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5915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22494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共享快取與加速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41248" y="4800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sstate 從「單機加速」升級成「全隊 / CI 共用資產」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加速的三根支柱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93592" cy="43434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BBF24"/>
          </a:solidFill>
          <a:ln/>
        </p:spPr>
      </p:sp>
      <p:pic>
        <p:nvPicPr>
          <p:cNvPr id="6" name="Image 0" descr="asset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854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DL_DIR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218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原始碼下載快取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1248" y="365760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存放 fetch 階段抓下來的 tarball / git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sstate 不同：管的是「輸入來源」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跨專案共享可省下大量重複下載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搭配 PREMIRRORS 指向內網鏡像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88536" y="1737360"/>
            <a:ext cx="3593592" cy="43434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2856" y="201168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pic>
        <p:nvPicPr>
          <p:cNvPr id="12" name="Image 1" descr="assets/databas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18541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2856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SSTATE_DIR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62856" y="3218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本機產物快取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81144" y="365760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前面詳述的 shared state 本體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 build/sstate-cache/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指向固定路徑以跨 build 目錄復用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可放共用磁碟給多人 / 多分支用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28432" y="1737360"/>
            <a:ext cx="3593592" cy="43434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2752" y="201168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pic>
        <p:nvPicPr>
          <p:cNvPr id="18" name="Image 2" descr="asset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185416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02752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SSTATE_MIRRORS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02752" y="3218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遠端產物鏡像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321040" y="365760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本機沒有時，從遠端 URL 拉取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把產物推到鏡像，開發者直接拉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http/https/file/NFS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新成員首次 build 從數小時 → 數十分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共享快取與加速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實際怎麼設定（local.conf / site.conf）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0" cy="4297680"/>
          </a:xfrm>
          <a:prstGeom prst="roundRect">
            <a:avLst>
              <a:gd name="adj" fmla="val 127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801368"/>
            <a:ext cx="652881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共享下載與產物快取 ----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DL_DIR ?= "/data/yocto/downloads"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SSTATE_DIR ?= "/data/yocto/sstate-cache"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遠端鏡像：先讀 CI 推上來的產物 ----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SSTATE_MIRRORS ?= "\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file://.* https://cache.corp/sstate/PATH \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file://.* file:///mnt/nfs/sstate/PATH"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原始碼預鏡像（內網優先）----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PREMIRRORS ?= "\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git://.*/.* https://src.corp/mirror/"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hash 等價，提升跨環境命中率 ----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BB_HASHSERVE_UPSTREAM = "hashserv.corp:8687"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BB_SIGNATURE_HANDLER = "OEEquivHash"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35240" y="178308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18120" y="19842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</p:sp>
      <p:pic>
        <p:nvPicPr>
          <p:cNvPr id="8" name="Image 0" descr="asset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36" y="2112264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8200" y="19293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佔位符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458200" y="2286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BitBake 會自動展開成 hash 分桶路徑，務必保留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324612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18120" y="34472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</p:sp>
      <p:pic>
        <p:nvPicPr>
          <p:cNvPr id="13" name="Image 1" descr="asset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36" y="3575304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58200" y="33924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equivalence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458200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讓「不同 hash 但等價產物」也能命中，大幅提升復用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35240" y="470916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18120" y="49103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</p:sp>
      <p:pic>
        <p:nvPicPr>
          <p:cNvPr id="18" name="Image 2" descr="assets/w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36" y="5038344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4855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順序有意義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458200" y="5212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由上而下嘗試，最快來源放最前面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共享快取與加速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 與本機如何共用同一份快取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2032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pic>
        <p:nvPicPr>
          <p:cNvPr id="6" name="Image 0" descr="asset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579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27249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 nightly build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完整編譯，產生最新 sstate</a:t>
            </a:r>
            <a:endParaRPr lang="en-US" sz="1050" dirty="0"/>
          </a:p>
        </p:txBody>
      </p:sp>
      <p:pic>
        <p:nvPicPr>
          <p:cNvPr id="10" name="Image 1" descr="asset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542032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83280" y="1783080"/>
            <a:ext cx="2542032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11880" y="20116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pic>
        <p:nvPicPr>
          <p:cNvPr id="13" name="Image 2" descr="asset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21579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4340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611880" y="27249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推送 sstate 到鏡像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61188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rsync / 上傳到 cache.corp</a:t>
            </a:r>
            <a:endParaRPr lang="en-US" sz="1050" dirty="0"/>
          </a:p>
        </p:txBody>
      </p:sp>
      <p:pic>
        <p:nvPicPr>
          <p:cNvPr id="17" name="Image 3" descr="asset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542032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17920" y="1783080"/>
            <a:ext cx="2542032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46520" y="20116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pic>
        <p:nvPicPr>
          <p:cNvPr id="20" name="Image 4" descr="assets/netwo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2157984"/>
            <a:ext cx="301752" cy="3017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7804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6446520" y="27249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開發者 / PR build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44652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MIRRORS 拉現成產物</a:t>
            </a:r>
            <a:endParaRPr lang="en-US" sz="1050" dirty="0"/>
          </a:p>
        </p:txBody>
      </p:sp>
      <p:pic>
        <p:nvPicPr>
          <p:cNvPr id="24" name="Image 5" descr="assets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2542032"/>
            <a:ext cx="292608" cy="29260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52560" y="1783080"/>
            <a:ext cx="2542032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281160" y="20116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pic>
        <p:nvPicPr>
          <p:cNvPr id="27" name="Image 6" descr="assets/bolt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7464" y="2157984"/>
            <a:ext cx="301752" cy="30175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01268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9281160" y="27249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只編改動部分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928116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回饋時間大幅縮短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548640" y="397764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822960" y="4251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71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數小時</a:t>
            </a:r>
            <a:endParaRPr lang="en-US" sz="4000" dirty="0"/>
          </a:p>
        </p:txBody>
      </p:sp>
      <p:sp>
        <p:nvSpPr>
          <p:cNvPr id="33" name="Text 24"/>
          <p:cNvSpPr/>
          <p:nvPr/>
        </p:nvSpPr>
        <p:spPr>
          <a:xfrm>
            <a:off x="822960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新人首次 build（無快取）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4288536" y="397764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5" name="Text 26"/>
          <p:cNvSpPr/>
          <p:nvPr/>
        </p:nvSpPr>
        <p:spPr>
          <a:xfrm>
            <a:off x="4562856" y="4251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~20 分</a:t>
            </a:r>
            <a:endParaRPr lang="en-US" sz="4000" dirty="0"/>
          </a:p>
        </p:txBody>
      </p:sp>
      <p:sp>
        <p:nvSpPr>
          <p:cNvPr id="36" name="Text 27"/>
          <p:cNvSpPr/>
          <p:nvPr/>
        </p:nvSpPr>
        <p:spPr>
          <a:xfrm>
            <a:off x="4562856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mirror 後首次 build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8028432" y="397764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8" name="Text 29"/>
          <p:cNvSpPr/>
          <p:nvPr/>
        </p:nvSpPr>
        <p:spPr>
          <a:xfrm>
            <a:off x="8302752" y="4251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&gt;90%</a:t>
            </a:r>
            <a:endParaRPr lang="en-US" sz="4000" dirty="0"/>
          </a:p>
        </p:txBody>
      </p:sp>
      <p:sp>
        <p:nvSpPr>
          <p:cNvPr id="39" name="Text 30"/>
          <p:cNvSpPr/>
          <p:nvPr/>
        </p:nvSpPr>
        <p:spPr>
          <a:xfrm>
            <a:off x="8302752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日常增量 build 命中率目標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共享快取與加速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· SSTATE-CACHE-MANAGEMENT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快取會無限長大 — 用官方腳本清理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位於 poky/scripts/。sstate 只增不減，長期下來可達數百 GB。此腳本可安全移除過期 / 重複版本的快取。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766560" cy="27432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58568"/>
            <a:ext cx="643737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移除舊版本，每個 PN 只保留最新一份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./scripts/sstate-cache-management.py \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--cache-dir=/data/yocto/sstate-cache \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--remove-duplicated -y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依存活 stamp 比對，清掉不再被引用的快取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./scripts/sstate-cache-management.py \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--cache-dir=/data/yocto/sstate-cache \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--stamps-dir=build/tmp/stamps -d -y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0" y="2148840"/>
            <a:ext cx="4069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0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--remove-duplicated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258775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 recipe 多版本只留最新，最常用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43800" y="3108960"/>
            <a:ext cx="4069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--stamps-dir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3547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 build 的 stamps，保留仍被引用的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0" y="4069080"/>
            <a:ext cx="4069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4178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/ --dry-run 思維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5079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先不加 -y 預覽要刪什麼再執行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43800" y="5029200"/>
            <a:ext cx="4069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0" y="5138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排程化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54681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放進 CI cron，定期回收磁碟空間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0" name="Image 0" descr="assets/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21808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34440" y="51206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清太兇會降命中率。共享快取建議先 dry-run、保留近期版本，並與維護 BSP 的同事對齊清理策略。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共享快取與加速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18288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assets/tool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5915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22494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進階工具實戰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41248" y="4800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簽章分析、相依圖、pkgdata 查詢、layer 驗證與 recipe 自動產生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本章涵蓋的工具一覽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6148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842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pic>
        <p:nvPicPr>
          <p:cNvPr id="6" name="Image 0" descr="assets/sear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02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8096" y="2624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變數最終值解析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74136" y="1783080"/>
            <a:ext cx="276148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75304" y="19842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pic>
        <p:nvPicPr>
          <p:cNvPr id="11" name="Image 1" descr="assets/graph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1214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42816" y="2002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93592" y="2624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/ 套件相依圖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9632" y="1783080"/>
            <a:ext cx="276148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9842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pic>
        <p:nvPicPr>
          <p:cNvPr id="16" name="Image 2" descr="assets/fingerprin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2140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68312" y="2002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bitbake-diffsigs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19088" y="2624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 hash 為何改變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25128" y="1783080"/>
            <a:ext cx="276148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26296" y="19842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pic>
        <p:nvPicPr>
          <p:cNvPr id="21" name="Image 3" descr="assets/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21214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93808" y="2002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oe-pkgdata-util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244584" y="2624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查套件/檔案歸屬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3246120"/>
            <a:ext cx="276148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44728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pic>
        <p:nvPicPr>
          <p:cNvPr id="26" name="Image 4" descr="asset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58444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3465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yocto-check-layer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68096" y="4087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合規驗證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3374136" y="3246120"/>
            <a:ext cx="276148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75304" y="344728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pic>
        <p:nvPicPr>
          <p:cNvPr id="31" name="Image 5" descr="assets/bo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464" y="358444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242816" y="3465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recipetool create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93592" y="4087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自動產生 recipe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199632" y="3246120"/>
            <a:ext cx="276148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00800" y="344728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pic>
        <p:nvPicPr>
          <p:cNvPr id="36" name="Image 6" descr="assets/userco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584448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068312" y="3465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oe-setup-builddir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419088" y="4087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 build 環境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9025128" y="3246120"/>
            <a:ext cx="276148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26296" y="344728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pic>
        <p:nvPicPr>
          <p:cNvPr id="41" name="Image 7" descr="assets/chartline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456" y="3584448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893808" y="3465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buildstats + bootchart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244584" y="4087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時間軸分析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45" name="Image 8" descr="assets/bul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276088"/>
            <a:ext cx="365760" cy="36576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1280160" y="5029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這些工具大多隨 poky 附帶，進到 build 環境（source oe-init-build-env）即可使用 —— 它們是 BSP 日常除錯的核心武器。</a:t>
            </a:r>
            <a:endParaRPr lang="en-US" sz="1300" dirty="0"/>
          </a:p>
        </p:txBody>
      </p:sp>
      <p:sp>
        <p:nvSpPr>
          <p:cNvPr id="47" name="Text 3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進階工具實戰</a:t>
            </a:r>
            <a:endParaRPr lang="en-US" sz="900" dirty="0"/>
          </a:p>
        </p:txBody>
      </p:sp>
      <p:sp>
        <p:nvSpPr>
          <p:cNvPr id="48" name="Text 3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BITBAKE -E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變數到底被算成什麼值？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 印出某 recipe（或全域）展開後的環境。回答「這個變數最終是什麼、為何是這樣」最有力的工具。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766560" cy="3703320"/>
          </a:xfrm>
          <a:prstGeom prst="roundRect">
            <a:avLst>
              <a:gd name="adj" fmla="val 148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12848"/>
            <a:ext cx="6437376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看某 recipe 的最終 CFLAGS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-e zlib | grep ^CFLAGS=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連同「賦值歷史」一起看（# 開頭註解）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-e zlib | grep -B30 'CFLAGS='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全域變數（不指定 recipe）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-e | grep ^DISTRO_FEATURES=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確認 S / B / D / WORKDIR 路徑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-e busybox | grep -E '^(S|B|D|WORKDIR)='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0" y="210312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8" name="Image 0" descr="asset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30428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解析「為何是這值」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輸出含每次 += / ?= / override 的來源行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43800" y="338328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2" name="Image 1" descr="assets/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58444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75320" y="3547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排查 override 衝突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772400" y="3977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 :append / :prepend / :machine 的疊加結果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543800" y="466344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6" name="Image 2" descr="asset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8646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4828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確認路徑變數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772400" y="5257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do_rootfs 出問題時先看 D、WORKDIR 對不對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進階工具實戰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BITBAKE -G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把相依關係畫成圖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 產生相依圖檔。用來回答「誰拉進了這個套件」「為什麼 image 變這麼大」「這條相依鏈長怎樣」。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766560" cy="3931920"/>
          </a:xfrm>
          <a:prstGeom prst="roundRect">
            <a:avLst>
              <a:gd name="adj" fmla="val 139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12848"/>
            <a:ext cx="64373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產生相依圖（task + 套件層級）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-g core-image-minimal -o ./graph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產出檔案：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task-depends.dot     task 之間相依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pn-depends.dot       recipe 之間相依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recipe-depends.dot   建置期相依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找「誰依賴 openssl」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openssl graph/pn-depends.dot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轉成圖片（需 graphviz）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 -Tpng graph/pn-depends.dot -o dep.png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543800" y="2103120"/>
            <a:ext cx="4069080" cy="3703320"/>
          </a:xfrm>
          <a:prstGeom prst="roundRect">
            <a:avLst>
              <a:gd name="adj" fmla="val 246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相依鏈示意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0" y="2788920"/>
            <a:ext cx="1691640" cy="457200"/>
          </a:xfrm>
          <a:prstGeom prst="roundRect">
            <a:avLst>
              <a:gd name="adj" fmla="val 14000"/>
            </a:avLst>
          </a:prstGeom>
          <a:solidFill>
            <a:srgbClr val="0D948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core-image-minimal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0" y="3520440"/>
            <a:ext cx="1691640" cy="4572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3520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packagegroup-core-boot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63840" y="4251960"/>
            <a:ext cx="1691640" cy="4572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4251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busybox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46920" y="4251960"/>
            <a:ext cx="1691640" cy="4572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4251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glibc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732520" y="5029200"/>
            <a:ext cx="1691640" cy="4572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5029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gcc-cross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0" y="3246120"/>
            <a:ext cx="0" cy="27432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86800" y="3977640"/>
            <a:ext cx="0" cy="27432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86800" y="4709160"/>
            <a:ext cx="548640" cy="32004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515600" y="4709160"/>
            <a:ext cx="-457200" cy="32004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77240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一眼看出 gcc-cross 是共同底層，改它會牽動全部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進階工具實戰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BITBAKE-DIFFSIGS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「為什麼又重編了？」的終極解答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當你預期 HIT 卻 MISS，用 diffsigs 比對兩次 signature，精準指出是哪個變數 / 相依改變導致 hash 不同。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766560" cy="3703320"/>
          </a:xfrm>
          <a:prstGeom prst="roundRect">
            <a:avLst>
              <a:gd name="adj" fmla="val 148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12848"/>
            <a:ext cx="6437376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比對某 task 最近兩次的簽章差異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bitbake-diffsigs --task zlib do_compile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直接比對兩個 siginfo 檔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bitbake-diffsigs old.siginfo new.siginfo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典型輸出：指出變動的變數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changed: CFLAGS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from: "-O2 -pipe"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to:   "-O2 -pipe -g"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basehash changed ... dependency gcc-cross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0" y="2103120"/>
            <a:ext cx="4069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26680" y="2322576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726680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21040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 lock 現象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21040" y="25420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bitbake-dumpsig 留下舊 siginfo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43800" y="3063240"/>
            <a:ext cx="4069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26680" y="3282696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726680" y="3282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3172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再跑一次 build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35021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得到新的 siginfo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43800" y="4023360"/>
            <a:ext cx="4069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26680" y="4242816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680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4133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diffsigs 比對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44622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 Hash changed 列出的變數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43800" y="4983480"/>
            <a:ext cx="4069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26680" y="5202936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5202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21040" y="5093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回推根因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21040" y="54223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是自己改的？還是上游相依連鎖？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進階工具實戰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OE-PKGDATA-UTIL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查套件與檔案的歸屬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回答「這個檔案屬於哪個套件」「這個 recipe 產出哪些 package」「執行檔在哪個 .deb/.rpm 裡」。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766560" cy="3703320"/>
          </a:xfrm>
          <a:prstGeom prst="roundRect">
            <a:avLst>
              <a:gd name="adj" fmla="val 148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12848"/>
            <a:ext cx="6437376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某檔案由哪個套件提供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oe-pkgdata-util find-path /usr/bin/script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某 recipe 產出哪些 runtime 套件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oe-pkgdata-util list-pkgs -p util-linux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列出套件內含的檔案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oe-pkgdata-util list-pkg-files busybox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反查：runtime 套件 → 來源 recipe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oe-pkgdata-util lookup-recipe libssl3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0" y="2103120"/>
            <a:ext cx="4069080" cy="3703320"/>
          </a:xfrm>
          <a:prstGeom prst="roundRect">
            <a:avLst>
              <a:gd name="adj" fmla="val 246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asset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3317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實戰：/usr/bin/script 衝突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0" y="28803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busybox 與 util-linux 都想提供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/usr/bin/script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，造成 update-alternatives 衝突。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37490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find-path 確認兩邊歸屬後，於 busybox 設定中關閉該 applet，或調整 ALTERNATIVE_PRIORITY 決定優先者。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0" y="5029200"/>
            <a:ext cx="3611880" cy="59436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/>
        </p:spPr>
      </p:sp>
      <p:sp>
        <p:nvSpPr>
          <p:cNvPr id="13" name="Text 10"/>
          <p:cNvSpPr/>
          <p:nvPr/>
        </p:nvSpPr>
        <p:spPr>
          <a:xfrm>
            <a:off x="7909560" y="5029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ALTERNATIVE_PRIORITY = "100"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進階工具實戰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YOCTO-CHECK-LAYER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驗證 BSP layer 是否合規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檢查 layer 是否符合 Yocto Compatible 規範：layer.conf 正確、無破壞性 global 變動、各 layer 可獨立解析。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035040" cy="2651760"/>
          </a:xfrm>
          <a:prstGeom prst="roundRect">
            <a:avLst>
              <a:gd name="adj" fmla="val 206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304288"/>
            <a:ext cx="570585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驗證指定 layer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yocto-check-layer /path/to/meta-mybsp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底層其實呼叫 scripts/checklayer 模組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會跑三類測試：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common  — 共通合規項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bsp     — machine 不污染其他 layer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distro  — distro 設定隔離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12280" y="2194560"/>
            <a:ext cx="4800600" cy="841248"/>
          </a:xfrm>
          <a:prstGeom prst="roundRect">
            <a:avLst>
              <a:gd name="adj" fmla="val 760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8" name="Image 0" descr="asset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2" y="243230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16368" y="2313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signature changes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16368" y="26517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 layer 不應改變其他 recipe 的 hash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12280" y="3108960"/>
            <a:ext cx="4800600" cy="841248"/>
          </a:xfrm>
          <a:prstGeom prst="roundRect">
            <a:avLst>
              <a:gd name="adj" fmla="val 760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2" name="Image 1" descr="asset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334670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16368" y="3227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parses correctly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516368" y="35661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單獨啟用此 layer 仍能正常 parse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812280" y="4023360"/>
            <a:ext cx="4800600" cy="841248"/>
          </a:xfrm>
          <a:prstGeom prst="roundRect">
            <a:avLst>
              <a:gd name="adj" fmla="val 760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6" name="Image 2" descr="asset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426110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16368" y="4142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overlap 衝突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516368" y="44805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不重複定義 / 覆蓋其他 layer 的 recipe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074920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77240" y="50749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為何重要：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通過驗證的 layer 才能宣稱 Yocto Compatible，也代表它能安全地被別的專案重用。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進階工具實戰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RECIPETOOL CREATE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讓工具幫你寫 recipe 草稿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給一個來源（git / tarball），recipetool 自動偵測建置系統、授權、相依，產出 recipe 雛形，省去手寫樣板。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766560" cy="3383280"/>
          </a:xfrm>
          <a:prstGeom prst="roundRect">
            <a:avLst>
              <a:gd name="adj" fmla="val 16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304288"/>
            <a:ext cx="643737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從 git 來源產生 recipe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recipetool create -o myapp.bb \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https://github.com/acme/myapp.git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從 tarball 產生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recipetool create -o libfoo_1.2.bb \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https://acme.org/libfoo-1.2.tar.gz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搭配 devtool 做完整開發流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 add myapp https://.../myapp.git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0" y="2194560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8" name="Image 0" descr="asset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2" y="241401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0" y="2304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自動偵測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262432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/ Autotools / Meson / setup.py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543800" y="3081528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2" name="Image 1" descr="asset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330098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0" y="31912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推測授權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29600" y="351129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掃描 LICENSE 檔，填好 LIC_FILES_CHKSUM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7543800" y="3968496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6" name="Image 2" descr="assets/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418795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40782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抓相依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29600" y="43982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盡力列出 DEPENDS，仍需人工複核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7543800" y="4855464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0" name="Image 3" descr="assets/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507492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0" y="4965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只是草稿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229600" y="528523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務必檢查、補完後才能 commit</a:t>
            </a:r>
            <a:endParaRPr lang="en-US" sz="1080" dirty="0"/>
          </a:p>
        </p:txBody>
      </p:sp>
      <p:sp>
        <p:nvSpPr>
          <p:cNvPr id="23" name="Text 1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進階工具實戰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SETUP &amp; OVERRIDES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環境初始化與 override 治理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/>
        </p:spPr>
      </p:sp>
      <p:pic>
        <p:nvPicPr>
          <p:cNvPr id="6" name="Image 0" descr="assets/userc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0665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385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oe-setup-builddir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oe-init-build-env 在背後呼叫，負責建立 build 目錄並產生初始 conf。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3383280"/>
            <a:ext cx="4983480" cy="1691640"/>
          </a:xfrm>
          <a:prstGeom prst="roundRect">
            <a:avLst>
              <a:gd name="adj" fmla="val 324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41832" y="3493008"/>
            <a:ext cx="46542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poky/oe-init-build-env build-a53</a:t>
            </a:r>
            <a:endParaRPr lang="en-US" sz="1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產生 conf/local.conf</a:t>
            </a:r>
            <a:endParaRPr lang="en-US" sz="1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產生 conf/bblayers.conf</a:t>
            </a:r>
            <a:endParaRPr lang="en-US" sz="1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多機型：用不同 build dir 隔離</a:t>
            </a:r>
            <a:endParaRPr lang="en-US" sz="1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.../oe-init-build-env build-modelB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多機型策略：每個 MACHINE 一個 build dir，但共用 DL_DIR / SSTATE_DIR。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169164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0" y="19202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/>
        </p:spPr>
      </p:sp>
      <p:pic>
        <p:nvPicPr>
          <p:cNvPr id="14" name="Image 1" descr="assets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206654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19385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override 遷移工具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00800" y="2651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scarthgap 採新式 override 語法（冒號）。舊 layer 升級時用官方腳本批次轉換。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0" y="3383280"/>
            <a:ext cx="4983480" cy="2103120"/>
          </a:xfrm>
          <a:prstGeom prst="roundRect">
            <a:avLst>
              <a:gd name="adj" fmla="val 260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565392" y="3493008"/>
            <a:ext cx="465429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舊：_append / _machine</a:t>
            </a:r>
            <a:endParaRPr lang="en-US" sz="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新：:append / :machine</a:t>
            </a:r>
            <a:endParaRPr lang="en-US" sz="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convert-overrides.py &lt;layer-dir&gt;</a:t>
            </a:r>
            <a:endParaRPr lang="en-US" sz="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多機型差異比對</a:t>
            </a:r>
            <a:endParaRPr lang="en-US" sz="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diffconfig / diff-machine 思路：</a:t>
            </a:r>
            <a:endParaRPr lang="en-US" sz="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-e -e ... | diff modelA modelB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進階工具實戰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18288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assets/sear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5915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22494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編譯失敗解讀與除錯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41248" y="4800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 log、追 taskhash 變動、用 build timeline 找瓶頸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FAILURES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編譯失敗，BitBake 會告訴你什麼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失敗訊息會明確指出「哪個 recipe 的哪個 task 在哪一行掛掉」，並給出 log 路徑。先看這三件事。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12848"/>
            <a:ext cx="1073505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util-linux-2.40-r0 do_compile: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oe_runmake failed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Logfile of failure stored in: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.../util-linux/2.40-r0/temp/log.do_compile.12345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Task (.../util-linux_2.40.bb:do_compile)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failed with exit code '1'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886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pic>
        <p:nvPicPr>
          <p:cNvPr id="9" name="Image 0" descr="assets/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3986784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374904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哪個 task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749040" y="3749040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do_compile / do_rootfs / do_install — 定位失敗階段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507992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464515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pic>
        <p:nvPicPr>
          <p:cNvPr id="14" name="Image 1" descr="assets/file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4745736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98448" y="450799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路徑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749040" y="450799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temp/log.do_&lt;task&gt;.&lt;pid&gt; 才是真正錯誤細節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5266944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540410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pic>
        <p:nvPicPr>
          <p:cNvPr id="19" name="Image 2" descr="assets/search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550468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98448" y="526694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3749040" y="5266944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非零碼 + 上方最後幾行才是根因，往上捲別只看最後一行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編譯失敗解讀與除錯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ANATOMY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 檔在哪、各是什麼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1874520"/>
          </a:xfrm>
          <a:prstGeom prst="roundRect">
            <a:avLst>
              <a:gd name="adj" fmla="val 292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847088"/>
            <a:ext cx="643737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tmp/work/&lt;arch&gt;/&lt;pn&gt;/&lt;pv&gt;-&lt;pr&gt;/temp/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log.do_compile.&lt;pid&gt;   ← 該次執行完整輸出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log.do_compile        ← symlink 指向最新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run.do_compile.&lt;pid&gt;  ← 實際執行的 shell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log.task_order        ← task 執行順序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543800" y="1737360"/>
            <a:ext cx="40690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7" name="Image 0" descr="assets/file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2" y="18928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47888" y="1810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log.do_xxx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47888" y="2093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看錯誤輸出 —— grep -i error / 往上捲找第一個錯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7543800" y="2505456"/>
            <a:ext cx="40690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1" name="Image 1" descr="assets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266090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47888" y="2578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run.do_xxx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47888" y="28620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想復現？直接執行這個 shell 腳本逐步 debug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7543800" y="3273552"/>
            <a:ext cx="40690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5" name="Image 2" descr="asset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34290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47888" y="33467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247888" y="36301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bitbake -c devshell &lt;pn&gt; 進到該 recipe 的環境手動試</a:t>
            </a:r>
            <a:endParaRPr lang="en-US" sz="102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6766560" cy="2103120"/>
          </a:xfrm>
          <a:prstGeom prst="roundRect">
            <a:avLst>
              <a:gd name="adj" fmla="val 260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13232" y="3950208"/>
            <a:ext cx="64373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常用除錯指令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-c devshell util-linux      # 進開發 shell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-c compile -f util-linux    # 強制重跑該 task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-c cleansstate util-linux   # 清掉快取再來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-v -D util-linux            # 詳細 + debug 輸出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543800" y="4160520"/>
            <a:ext cx="4069080" cy="1783080"/>
          </a:xfrm>
          <a:prstGeom prst="roundRect">
            <a:avLst>
              <a:gd name="adj" fmla="val 410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assets/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389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7532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cleansstate 要謹慎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0" y="48920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它會連同共享快取一起清。共享環境下優先用 -c compile -f 或 devshell，別動到別人也在用的 sstate。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編譯失敗解讀與除錯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BUILDHISTORY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追蹤「這次 build 跟上次差在哪」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開啟後，每次 build 把套件清單、版本、檔案、image 大小、相依等記錄到 git，可逐 commit diff 變化。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766560" cy="3337560"/>
          </a:xfrm>
          <a:prstGeom prst="roundRect">
            <a:avLst>
              <a:gd name="adj" fmla="val 164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304288"/>
            <a:ext cx="643737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local.conf 啟用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 += "buildhistory"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BUILDHISTORY_COMMIT = "1"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看兩次 build 之間的差異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buildhistory-diff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範例輸出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 package openssl: 3.2.1 -&gt; 3.3.0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size: 24.1 MiB -&gt; 26.8 MiB (+2.7)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0" y="2194560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8" name="Image 0" descr="asset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2" y="240487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套件版本漂移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261518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誰悄悄升版了？一眼看出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43800" y="3044952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2" name="Image 1" descr="assets/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32552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0" y="31455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變肥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29600" y="34655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哪個套件讓 rootfs 變大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543800" y="3895344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6" name="Image 2" descr="assets/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410565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995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相依變動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29600" y="4315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新增/移除的 runtime 相依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543800" y="4745736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0" name="Image 3" descr="asset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49560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稽核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229600" y="516636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交付前確認沒有非預期變化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編譯失敗解讀與除錯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用 buildstats + bootchart 找編譯瓶頸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buildstats 記錄每個 task 的耗時與資源；pybootchartgui 把它畫成時間軸，讓你看出「誰在拖慢整體」。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943600" cy="301752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304288"/>
            <a:ext cx="56144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預設已啟用 buildstats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 += "buildstats"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資料位置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tmp/buildstats/&lt;build-id&gt;/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產生時間軸圖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pybootchartgui.py tmp/buildstats/&lt;id&gt; \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-o timeline.png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720840" y="2194560"/>
            <a:ext cx="4892040" cy="3017520"/>
          </a:xfrm>
          <a:prstGeom prst="roundRect">
            <a:avLst>
              <a:gd name="adj" fmla="val 303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時間軸示意 (越長越該優化)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gcc-cross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58200" y="2770632"/>
            <a:ext cx="2776118" cy="237744"/>
          </a:xfrm>
          <a:prstGeom prst="roundRect">
            <a:avLst>
              <a:gd name="adj" fmla="val 11538"/>
            </a:avLst>
          </a:prstGeom>
          <a:solidFill>
            <a:srgbClr val="F87171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31272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glibc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458200" y="3154680"/>
            <a:ext cx="2353666" cy="237744"/>
          </a:xfrm>
          <a:prstGeom prst="roundRect">
            <a:avLst>
              <a:gd name="adj" fmla="val 11538"/>
            </a:avLst>
          </a:prstGeom>
          <a:solidFill>
            <a:srgbClr val="F87171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35112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qtbase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458200" y="3538728"/>
            <a:ext cx="1961388" cy="237744"/>
          </a:xfrm>
          <a:prstGeom prst="roundRect">
            <a:avLst>
              <a:gd name="adj" fmla="val 11538"/>
            </a:avLst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38953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linux-kernel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58200" y="3922776"/>
            <a:ext cx="1659636" cy="237744"/>
          </a:xfrm>
          <a:prstGeom prst="roundRect">
            <a:avLst>
              <a:gd name="adj" fmla="val 11538"/>
            </a:avLst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42793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58200" y="4306824"/>
            <a:ext cx="965606" cy="237744"/>
          </a:xfrm>
          <a:prstGeom prst="roundRect">
            <a:avLst>
              <a:gd name="adj" fmla="val 11538"/>
            </a:avLst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4663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busybox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58200" y="4690872"/>
            <a:ext cx="543154" cy="237744"/>
          </a:xfrm>
          <a:prstGeom prst="roundRect">
            <a:avLst>
              <a:gd name="adj" fmla="val 11538"/>
            </a:avLst>
          </a:prstGeom>
          <a:solidFill>
            <a:srgbClr val="4ADE80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重編成本集中在 toolchain；穩定它＝守住命中率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3949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搭配 sstate：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命中的 task 幾乎不佔時間軸，瓶頸自然浮現在「真正重編」的少數項目上。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編譯失敗解讀與除錯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PLAYBOOK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「為什麼又重編？」標準排查流程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97510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900" dirty="0"/>
          </a:p>
        </p:txBody>
      </p:sp>
      <p:pic>
        <p:nvPicPr>
          <p:cNvPr id="7" name="Image 0" descr="asset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0299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178308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現象確認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480560" y="19019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 HIT 卻看到 task 在跑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0" y="1965960"/>
            <a:ext cx="2926080" cy="475488"/>
          </a:xfrm>
          <a:prstGeom prst="roundRect">
            <a:avLst>
              <a:gd name="adj" fmla="val 9615"/>
            </a:avLst>
          </a:prstGeom>
          <a:solidFill>
            <a:srgbClr val="0B1220"/>
          </a:solidFill>
          <a:ln/>
        </p:spPr>
      </p:sp>
      <p:sp>
        <p:nvSpPr>
          <p:cNvPr id="11" name="Text 8"/>
          <p:cNvSpPr/>
          <p:nvPr/>
        </p:nvSpPr>
        <p:spPr>
          <a:xfrm>
            <a:off x="8339328" y="1965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看 build log 的 Tasks: X of 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22960" y="2715768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24128" y="290779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1024128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900" dirty="0"/>
          </a:p>
        </p:txBody>
      </p:sp>
      <p:pic>
        <p:nvPicPr>
          <p:cNvPr id="15" name="Image 1" descr="assets/fingerpr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962656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240280" y="271576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鎖定 task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8056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找出哪個 recipe 的哪個 task miss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0" y="2898648"/>
            <a:ext cx="2926080" cy="475488"/>
          </a:xfrm>
          <a:prstGeom prst="roundRect">
            <a:avLst>
              <a:gd name="adj" fmla="val 9615"/>
            </a:avLst>
          </a:prstGeom>
          <a:solidFill>
            <a:srgbClr val="0B1220"/>
          </a:solidFill>
          <a:ln/>
        </p:spPr>
      </p:sp>
      <p:sp>
        <p:nvSpPr>
          <p:cNvPr id="19" name="Text 15"/>
          <p:cNvSpPr/>
          <p:nvPr/>
        </p:nvSpPr>
        <p:spPr>
          <a:xfrm>
            <a:off x="8339328" y="28986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 printdiff 或觀察輸出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22960" y="3648456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024128" y="38404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18"/>
          <p:cNvSpPr/>
          <p:nvPr/>
        </p:nvSpPr>
        <p:spPr>
          <a:xfrm>
            <a:off x="102412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900" dirty="0"/>
          </a:p>
        </p:txBody>
      </p:sp>
      <p:pic>
        <p:nvPicPr>
          <p:cNvPr id="23" name="Image 2" descr="assets/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895344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240280" y="3648456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比對簽章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480560" y="37673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bitbake-diffsigs 看 hash 差異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229600" y="3831336"/>
            <a:ext cx="2926080" cy="475488"/>
          </a:xfrm>
          <a:prstGeom prst="roundRect">
            <a:avLst>
              <a:gd name="adj" fmla="val 9615"/>
            </a:avLst>
          </a:prstGeom>
          <a:solidFill>
            <a:srgbClr val="0B1220"/>
          </a:solidFill>
          <a:ln/>
        </p:spPr>
      </p:sp>
      <p:sp>
        <p:nvSpPr>
          <p:cNvPr id="27" name="Text 22"/>
          <p:cNvSpPr/>
          <p:nvPr/>
        </p:nvSpPr>
        <p:spPr>
          <a:xfrm>
            <a:off x="8339328" y="38313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列出 Hash changed 的變數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822960" y="4581144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024128" y="47731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5"/>
          <p:cNvSpPr/>
          <p:nvPr/>
        </p:nvSpPr>
        <p:spPr>
          <a:xfrm>
            <a:off x="1024128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900" dirty="0"/>
          </a:p>
        </p:txBody>
      </p:sp>
      <p:pic>
        <p:nvPicPr>
          <p:cNvPr id="31" name="Image 3" descr="asset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4828032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240280" y="4581144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回推來源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4480560" y="470001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是自己改的？相依連鎖？環境滲漏？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8229600" y="4764024"/>
            <a:ext cx="2926080" cy="475488"/>
          </a:xfrm>
          <a:prstGeom prst="roundRect">
            <a:avLst>
              <a:gd name="adj" fmla="val 9615"/>
            </a:avLst>
          </a:prstGeom>
          <a:solidFill>
            <a:srgbClr val="0B1220"/>
          </a:solidFill>
          <a:ln/>
        </p:spPr>
      </p:sp>
      <p:sp>
        <p:nvSpPr>
          <p:cNvPr id="35" name="Text 29"/>
          <p:cNvSpPr/>
          <p:nvPr/>
        </p:nvSpPr>
        <p:spPr>
          <a:xfrm>
            <a:off x="8339328" y="47640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-e 確認變數來源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822960" y="5513832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24128" y="570585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2"/>
          <p:cNvSpPr/>
          <p:nvPr/>
        </p:nvSpPr>
        <p:spPr>
          <a:xfrm>
            <a:off x="1024128" y="5705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900" dirty="0"/>
          </a:p>
        </p:txBody>
      </p:sp>
      <p:pic>
        <p:nvPicPr>
          <p:cNvPr id="39" name="Image 4" descr="asset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5760720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2240280" y="5513832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修正並驗證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4480560" y="563270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穩定輸入後重 build 確認 HIT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8229600" y="5696712"/>
            <a:ext cx="2926080" cy="475488"/>
          </a:xfrm>
          <a:prstGeom prst="roundRect">
            <a:avLst>
              <a:gd name="adj" fmla="val 9615"/>
            </a:avLst>
          </a:prstGeom>
          <a:solidFill>
            <a:srgbClr val="0B1220"/>
          </a:solidFill>
          <a:ln/>
        </p:spPr>
      </p:sp>
      <p:sp>
        <p:nvSpPr>
          <p:cNvPr id="43" name="Text 36"/>
          <p:cNvSpPr/>
          <p:nvPr/>
        </p:nvSpPr>
        <p:spPr>
          <a:xfrm>
            <a:off x="8339328" y="56967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或加 vardepsexclude 排除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BITBAKE -S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預測「這次會不會命中」不用真的編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 printdiff 只計算簽章、不執行編譯，並直接告訴你哪些 task 會 miss、為什麼 —— 改動前的快速健檢。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766560" cy="2788920"/>
          </a:xfrm>
          <a:prstGeom prst="roundRect">
            <a:avLst>
              <a:gd name="adj" fmla="val 196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58568"/>
            <a:ext cx="643737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只算簽章並列出與快取的差異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-S printdiff core-image-minimal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典型輸出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NOTE: Reparsing files...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do_compile in openssl changed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Variable CFLAGS value changed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17 tasks would be rebuilt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0" y="2148840"/>
            <a:ext cx="4069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8" name="Image 0" descr="asset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2" y="23957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47888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改動前先試算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47888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 PR 前確認沒有意外觸發大範圍重編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43800" y="3108960"/>
            <a:ext cx="4069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2" name="Image 1" descr="asset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335584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47888" y="3227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評估改動成本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47888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看清「這個改動代價有多大」再決定做法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543800" y="4069080"/>
            <a:ext cx="4069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6" name="Image 2" descr="asset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431596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7888" y="4187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mirror 命中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47888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確認新環境能從共享快取拿到產物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166360"/>
            <a:ext cx="6766560" cy="731520"/>
          </a:xfrm>
          <a:prstGeom prst="roundRect">
            <a:avLst>
              <a:gd name="adj" fmla="val 875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49808" y="5166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搭配 diffsigs：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 告訴你「哪些會 miss」，diffsigs 告訴你「為什麼」，兩者合用就是完整的命中分析。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編譯失敗解讀與除錯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常見編譯錯誤速查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錯誤訊息 / 階段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1188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第一步怎麼查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do_fetch failed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219456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來源抓不到 / checksum 不符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766560" y="219456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SRC_URI、SRC_URI[sha256sum]、網路 / mirror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1106424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2491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do_compile error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272491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編譯器報錯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66560" y="272491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 log.do_compile，多為 patch 沒套或 flag 問題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55264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5526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do_package_qa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325526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檢查擋下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66560" y="325526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 ERROR 的 QA issue 代碼，補 INSANE_SKIP 或修正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6424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8561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update-alternatives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11880" y="3785616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多套件搶同一路徑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66560" y="378561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ALTERNATIVE_PRIORITY 或關閉重複 applet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31596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provides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11880" y="431596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相依找不到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66560" y="431596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 layer 有啟用、PACKAGECONFIG / DEPENDS 正確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1106424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84632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Taskhash mismatch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11880" y="484632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簽章不穩定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66560" y="484632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-S / diffsigs 找滲入的變數或寫死路徑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376672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37667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do_rootfs failed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11880" y="537667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組裝失敗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66560" y="537667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多為套件衝突或空間不足，看 rootfs log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編譯失敗解讀與除錯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18288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assets/fla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5915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22494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多機型支援與收斂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41248" y="4800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在共享快取的基礎上，讓多個 MACHINE 高效共存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MULTI-MACHINE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多機型共用一套快取的架構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多個 MACHINE 各自 build dir，但共用 DL_DIR 與 SSTATE_DIR。架構無關的套件（如 host tools）跨機型命中。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108960" y="4846320"/>
            <a:ext cx="594360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assets/databa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5120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86200" y="48463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共享 DL_DIR + SSTATE_DIR（+ MIRRORS）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280160" y="210312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08760" y="23317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pic>
        <p:nvPicPr>
          <p:cNvPr id="10" name="Image 1" descr="assets/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468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23591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model-A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0876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build-a53-A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508760" y="3310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conf / image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共享底層產物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834640" y="3931920"/>
            <a:ext cx="324612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09160" y="210312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937760" y="23317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/>
        </p:spPr>
      </p:sp>
      <p:pic>
        <p:nvPicPr>
          <p:cNvPr id="17" name="Image 2" descr="assets/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4688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77840" y="23591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model-B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93776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build-a53-B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937760" y="3310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conf / image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共享底層產物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3931920"/>
            <a:ext cx="-18288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138160" y="210312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366760" y="23317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/>
        </p:spPr>
      </p:sp>
      <p:pic>
        <p:nvPicPr>
          <p:cNvPr id="24" name="Image 3" descr="assets/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46888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06840" y="23591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model-C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36676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build-a53-C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8366760" y="3310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conf / image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共享底層產物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692640" y="3931920"/>
            <a:ext cx="-361188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9" name="Text 2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多機型支援與收斂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用 OVERRIDES 管理機型差異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差異化設定不該散落各處。用 machine override 集中管理，並用 bitbake -e 驗證最終疊加結果。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7665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12848"/>
            <a:ext cx="6437376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recipe / bbappend 內依機型差異化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SRC_URI:append:model-a = " file://a.cfg"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SRC_URI:append:model-b = " file://b.cfg"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DISTRO / MACHINE features 分流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MACHINE_FEATURES:model-c += "npu"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驗證最終值是否如預期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-e &lt;pn&gt; | grep ^SRC_URI=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0" y="2103120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8" name="Image 0" descr="asset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2" y="231343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0" y="2194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集中於 machine conf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0" y="252374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差異放 conf/machine/*.conf，不散落 recipe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543800" y="2953512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2" name="Image 1" descr="assets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316382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0" y="30449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新式冒號語法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229600" y="337413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scarthgap 用 :append:&lt;machine&gt;，舊式已淘汰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543800" y="3803904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16" name="Image 2" descr="asset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401421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89534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務必驗證疊加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29600" y="422452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順序影響結果，用 -e 確認最終值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543800" y="4654296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pic>
        <p:nvPicPr>
          <p:cNvPr id="20" name="Image 3" descr="assets/fingerpr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486460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0" y="47457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留意 hash 影響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229600" y="507492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override 會改 PACKAGE_ARCH 與簽章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多機型支援與收斂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日常開發的瑞士刀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pic>
        <p:nvPicPr>
          <p:cNvPr id="6" name="Image 0" descr="asset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311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84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 add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441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從來源建立新 recipe 並進 workspace 開發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44068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0574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pic>
        <p:nvPicPr>
          <p:cNvPr id="11" name="Image 1" descr="assets/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2311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84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 modify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69480" y="2441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把既有 recipe 拉出來改原始碼、做 patch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44068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4747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pic>
        <p:nvPicPr>
          <p:cNvPr id="16" name="Image 2" descr="asset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64845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4015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 build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3858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workspace 內快速迭代編譯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200400"/>
            <a:ext cx="544068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34747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pic>
        <p:nvPicPr>
          <p:cNvPr id="21" name="Image 3" descr="assets/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364845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4015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 finish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69480" y="3858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把改動回寫成 patch / bbappend 進 layer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assets/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98348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4800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 sstate 的關係：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 在 workspace 內開發時會繞過共享快取以利快速迭代；finish 回寫後，正式 build 才重新納入 sstate 流程。開發與快取互不干擾。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多機型支援與收斂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三個月試用期成果對照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93592" cy="406908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593592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Month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環境探索與基準量測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摸清現有 scarthgap + repo 架構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量測 baseline build 時間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bitbake -e / -g 探索習慣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88536" y="1783080"/>
            <a:ext cx="3593592" cy="406908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88536" y="1783080"/>
            <a:ext cx="3593592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Month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62856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共享快取與多機型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81144" y="288036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導入共享 sstate / DL_DIR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SSTATE_MIRRORS 接 CI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image recipe 與 eSDK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28432" y="1783080"/>
            <a:ext cx="3593592" cy="406908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28432" y="1783080"/>
            <a:ext cx="3593592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Month 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02752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容器化與壓力測試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21040" y="288036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meta-virtualization 部署 Docker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benchmark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/ NPU 容器化（stretch）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多機型支援與收斂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&amp; RISKS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已知風險與待解問題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BBF24"/>
          </a:solidFill>
          <a:ln/>
        </p:spPr>
      </p:sp>
      <p:pic>
        <p:nvPicPr>
          <p:cNvPr id="6" name="Image 0" descr="assets/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1396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1109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GPU / NPU 容器化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49240" y="1911096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外部相依風險高 — Mali userspace driver 與 NPU runtime 能否進容器仍待驗證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2549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30540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87171"/>
          </a:solidFill>
          <a:ln/>
        </p:spPr>
      </p:sp>
      <p:pic>
        <p:nvPicPr>
          <p:cNvPr id="11" name="Image 1" descr="asset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182112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95351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update-alternatives 衝突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49240" y="2953512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busybox / util-linux 對 /usr/bin/script 的歸屬，需於 BSP 層定案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6791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09651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</p:sp>
      <p:pic>
        <p:nvPicPr>
          <p:cNvPr id="16" name="Image 2" descr="assets/databas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224528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959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Docker data-root 規劃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349240" y="3995928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data-root 落在 target rootfs 的分割、init、檔案系統選型尚未拍板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91032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51389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</p:sp>
      <p:pic>
        <p:nvPicPr>
          <p:cNvPr id="21" name="Image 3" descr="assets/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266944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503834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共享快取清理策略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349240" y="5038344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sstate 成長與清理頻率需與維護 BSP 的同事共同制定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多機型支援與收斂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三個一定要記住的重點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pic>
        <p:nvPicPr>
          <p:cNvPr id="6" name="Image 0" descr="assets/fingerprin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042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41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2743200" y="204825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輸入決定 hash，hash 決定命中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743200" y="252374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想要 cache 復用，核心就是讓進入簽章的輸入保持穩定。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53872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pic>
        <p:nvPicPr>
          <p:cNvPr id="12" name="Image 1" descr="asset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72160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429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41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2743200" y="346557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共享快取是團隊級資產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743200" y="394106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DL_DIR + SSTATE_DIR + MIRRORS + CI，把單機加速放大成全隊收益。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95604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pic>
        <p:nvPicPr>
          <p:cNvPr id="18" name="Image 2" descr="assets/tool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13892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846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41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Text 15"/>
          <p:cNvSpPr/>
          <p:nvPr/>
        </p:nvSpPr>
        <p:spPr>
          <a:xfrm>
            <a:off x="2743200" y="488289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工具就是你的眼睛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743200" y="535838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 看值、-g 看相依、diffsigs 看為何重編、buildstats 看瓶頸。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結語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29600" y="6437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BSP · 試用期考核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常用指令一頁帶走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9202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/>
        </p:spPr>
      </p:sp>
      <p:pic>
        <p:nvPicPr>
          <p:cNvPr id="6" name="Image 0" descr="assets/terminal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探索 / 查詢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251460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-e &lt;pn&gt; | grep ^VAR=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-g &lt;img&gt; -o ./graph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oe-pkgdata-util find-path &lt;file&gt;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oe-pkgdata-util lookup-recipe &lt;pkg&gt;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202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/>
        </p:spPr>
      </p:sp>
      <p:pic>
        <p:nvPicPr>
          <p:cNvPr id="11" name="Image 1" descr="assets/termina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簽章 / 快取分析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51460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-S printdiff &lt;target&gt;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bitbake-diffsigs &lt;task&gt;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bitbake-dumpsig &lt;siginfo&gt;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sstate-cache-management.py --remove-duplicated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" y="402336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51560" y="4251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/>
        </p:spPr>
      </p:sp>
      <p:pic>
        <p:nvPicPr>
          <p:cNvPr id="16" name="Image 2" descr="assets/termina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3616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除錯 / 重跑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097280" y="48463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-c devshell &lt;pn&gt;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-c compile -f &lt;pn&gt;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-c cleansstate &lt;pn&gt;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bitbake -v -D &lt;pn&gt;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251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/>
        </p:spPr>
      </p:sp>
      <p:pic>
        <p:nvPicPr>
          <p:cNvPr id="21" name="Image 3" descr="assets/terminal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3616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開發 / layer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46520" y="48463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 add / modify / finish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recipetool create -o x.bb &lt;url&gt;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yocto-check-layer &lt;layer&gt;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buildhistory-diff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69264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1E293B">
              <a:alpha val="92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89888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D9488">
              <a:alpha val="84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81051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1E293B">
              <a:alpha val="76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2231136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D9488">
              <a:alpha val="68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49240" y="2103120"/>
            <a:ext cx="1463040" cy="146304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assets/fla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5603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794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謝謝聆聽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sstate-cache 編譯加速與進階工具實戰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114800" y="5440680"/>
            <a:ext cx="39319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WangHanChi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BSP Engineer  ·  Yocto scarthgap 5.0 LTS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Yocto sstate-cache 優化與進階工具實戰</dc:title>
  <dc:subject>PptxGenJS Presentation</dc:subject>
  <dc:creator>WangHanChi</dc:creator>
  <cp:lastModifiedBy>WangHanChi</cp:lastModifiedBy>
  <cp:revision>1</cp:revision>
  <dcterms:created xsi:type="dcterms:W3CDTF">2026-06-14T16:36:44Z</dcterms:created>
  <dcterms:modified xsi:type="dcterms:W3CDTF">2026-06-14T16:36:44Z</dcterms:modified>
</cp:coreProperties>
</file>